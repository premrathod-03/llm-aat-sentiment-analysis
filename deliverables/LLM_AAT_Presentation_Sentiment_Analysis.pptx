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5"/>
  </p:notesMasterIdLst>
  <p:sldIdLst>
    <p:sldId id="256" r:id="rId2"/>
    <p:sldId id="257" r:id="rId3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75" r:id="rId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Corsiva" panose="020B0604020202020204" charset="0"/>
      <p:regular r:id="rId10"/>
      <p:bold r:id="rId11"/>
      <p:italic r:id="rId12"/>
      <p:boldItalic r:id="rId13"/>
    </p:embeddedFont>
    <p:embeddedFont>
      <p:font typeface="Times" panose="02020603050405020304" pitchFamily="18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487D00-FA29-44B3-BBA6-087FA463A403}">
  <a:tblStyle styleId="{8E487D00-FA29-44B3-BBA6-087FA463A4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2" d="100"/>
          <a:sy n="92" d="100"/>
        </p:scale>
        <p:origin x="46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16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font" Target="fonts/font8.fntdata"/><Relationship Id="rId14" Type="http://schemas.openxmlformats.org/officeDocument/2006/relationships/font" Target="fonts/font9.fntdata"/><Relationship Id="rId15" Type="http://schemas.openxmlformats.org/officeDocument/2006/relationships/font" Target="fonts/font10.fntdata"/><Relationship Id="rId16" Type="http://schemas.openxmlformats.org/officeDocument/2006/relationships/font" Target="fonts/font11.fntdata"/><Relationship Id="rId17" Type="http://schemas.openxmlformats.org/officeDocument/2006/relationships/font" Target="fonts/font12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A1A1A"/>
                </a:solidFill>
                <a:latin typeface="Times New Roman"/>
              </a:rPr>
              <a:t>Preprocessing ablation (TF-IDF + LR)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5-fold CV accuracy</c:v>
                </c:pt>
              </c:strCache>
            </c:strRef>
          </c:tx>
          <c:spPr>
            <a:solidFill>
              <a:srgbClr val="1F3A68"/>
            </a:solidFill>
          </c:spPr>
          <c:cat>
            <c:strRef>
              <c:f>Sheet1!$A$2:$A$5</c:f>
              <c:strCache>
                <c:ptCount val="4"/>
                <c:pt idx="0">
                  <c:v>Unigrams</c:v>
                </c:pt>
                <c:pt idx="1">
                  <c:v>− stopwords</c:v>
                </c:pt>
                <c:pt idx="2">
                  <c:v>Uni+bigrams</c:v>
                </c:pt>
                <c:pt idx="3">
                  <c:v>+ negation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0.7612874347223703</c:v>
                </c:pt>
                <c:pt idx="1">
                  <c:v>0.7478029930588264</c:v>
                </c:pt>
                <c:pt idx="2">
                  <c:v>0.7574176358754509</c:v>
                </c:pt>
                <c:pt idx="3">
                  <c:v>0.7604665266284598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7"/>
        </c:scaling>
        <c:delete val="0"/>
        <c:axPos val="l"/>
        <c:majorGridlines>
          <c:spPr>
            <a:ln>
              <a:solidFill>
                <a:srgbClr val="D0D5DD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A1A1A"/>
                </a:solidFill>
                <a:latin typeface="Times New Roman"/>
              </a:rPr>
              <a:t>Held-out test set (n = 2,133)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F3A68"/>
            </a:solidFill>
          </c:spPr>
          <c:cat>
            <c:strRef>
              <c:f>Sheet1!$A$2:$A$8</c:f>
              <c:strCache>
                <c:ptCount val="7"/>
                <c:pt idx="0">
                  <c:v>VADER</c:v>
                </c:pt>
                <c:pt idx="1">
                  <c:v>Naive Bayes</c:v>
                </c:pt>
                <c:pt idx="2">
                  <c:v>Logistic Reg.</c:v>
                </c:pt>
                <c:pt idx="3">
                  <c:v>Linear SVM</c:v>
                </c:pt>
                <c:pt idx="4">
                  <c:v>Word vectors</c:v>
                </c:pt>
                <c:pt idx="5">
                  <c:v>RoBERTa + LR</c:v>
                </c:pt>
                <c:pt idx="6">
                  <c:v>Ensemble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0.6422878574777309</c:v>
                </c:pt>
                <c:pt idx="1">
                  <c:v>0.7740271917487107</c:v>
                </c:pt>
                <c:pt idx="2">
                  <c:v>0.7749648382559775</c:v>
                </c:pt>
                <c:pt idx="3">
                  <c:v>0.7791842475386779</c:v>
                </c:pt>
                <c:pt idx="4">
                  <c:v>0.6957337083919363</c:v>
                </c:pt>
                <c:pt idx="5">
                  <c:v>0.7529301453352086</c:v>
                </c:pt>
                <c:pt idx="6">
                  <c:v>0.8082512892639475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Sheet1!$A$2:$A$8</c:f>
              <c:strCache>
                <c:ptCount val="7"/>
                <c:pt idx="0">
                  <c:v>VADER</c:v>
                </c:pt>
                <c:pt idx="1">
                  <c:v>Naive Bayes</c:v>
                </c:pt>
                <c:pt idx="2">
                  <c:v>Logistic Reg.</c:v>
                </c:pt>
                <c:pt idx="3">
                  <c:v>Linear SVM</c:v>
                </c:pt>
                <c:pt idx="4">
                  <c:v>Word vectors</c:v>
                </c:pt>
                <c:pt idx="5">
                  <c:v>RoBERTa + LR</c:v>
                </c:pt>
                <c:pt idx="6">
                  <c:v>Ensemble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0.660436137071651</c:v>
                </c:pt>
                <c:pt idx="1">
                  <c:v>0.7722117202268431</c:v>
                </c:pt>
                <c:pt idx="2">
                  <c:v>0.7785977859778598</c:v>
                </c:pt>
                <c:pt idx="3">
                  <c:v>0.7818434460398332</c:v>
                </c:pt>
                <c:pt idx="4">
                  <c:v>0.6905102527420124</c:v>
                </c:pt>
                <c:pt idx="5">
                  <c:v>0.746268656716418</c:v>
                </c:pt>
                <c:pt idx="6">
                  <c:v>0.8064363464268812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5"/>
        </c:scaling>
        <c:delete val="0"/>
        <c:axPos val="b"/>
        <c:majorGridlines>
          <c:spPr>
            <a:ln>
              <a:solidFill>
                <a:srgbClr val="D0D5DD"/>
              </a:solidFill>
            </a:ln>
          </c:spPr>
        </c:majorGridlines>
        <c:numFmt formatCode="0.000" sourceLinked="0"/>
        <c:majorTickMark val="out"/>
        <c:minorTickMark val="none"/>
        <c:tickLblPos val="high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1ff7052ff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141ff7052ff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41ff7052ff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141ff7052ff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41ff7052ff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g141ff7052ff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2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2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2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58" name="Google Shape;258;p22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9" name="Google Shape;259;p22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60" name="Google Shape;260;p2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5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76" name="Google Shape;276;p2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77" name="Google Shape;277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6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84" name="Google Shape;284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8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226" name="Google Shape;22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7" name="Google Shape;227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8" name="Google Shape;228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9" name="Google Shape;229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/>
        </p:nvSpPr>
        <p:spPr>
          <a:xfrm>
            <a:off x="6346" y="710407"/>
            <a:ext cx="91440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B.M.S. COLLEGE OF ENGINEERING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 dirty="0">
                <a:solidFill>
                  <a:schemeClr val="dk1"/>
                </a:solidFill>
                <a:latin typeface="Corsiva"/>
                <a:ea typeface="Corsiva"/>
                <a:cs typeface="Corsiva"/>
                <a:sym typeface="Corsiva"/>
              </a:rPr>
              <a:t>(Autonomous Institute, Affiliated to VTU, Belagavi)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MACHINE LEARNING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(UG Program: B.E. in Artificial Intelligence and Machine Learning) </a:t>
            </a:r>
            <a:endParaRPr sz="1100" b="0" i="0" u="none" strike="noStrike" cap="none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04" name="Google Shape;304;p29" descr="E:\BMSCE\dept_name_print_for_files\college_log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1969" y="221456"/>
            <a:ext cx="503277" cy="49417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9"/>
          <p:cNvSpPr txBox="1"/>
          <p:nvPr/>
        </p:nvSpPr>
        <p:spPr>
          <a:xfrm>
            <a:off x="12646" y="1999723"/>
            <a:ext cx="91377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 dirty="0">
                <a:solidFill>
                  <a:srgbClr val="0048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: Natural Language Processing for LLM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 dirty="0">
                <a:solidFill>
                  <a:srgbClr val="0048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24AM7PCLLM</a:t>
            </a:r>
            <a:endParaRPr sz="2100" b="1" i="0" u="none" strike="noStrike" cap="none" dirty="0">
              <a:solidFill>
                <a:srgbClr val="00487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29"/>
          <p:cNvSpPr txBox="1"/>
          <p:nvPr/>
        </p:nvSpPr>
        <p:spPr>
          <a:xfrm>
            <a:off x="6470649" y="3888659"/>
            <a:ext cx="2609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In-Charge: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</a:t>
            </a:r>
            <a:r>
              <a:rPr lang="en-GB" sz="1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Monika </a:t>
            </a:r>
            <a:r>
              <a:rPr lang="en-GB" sz="11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Puttaramaiah</a:t>
            </a:r>
            <a:endParaRPr sz="11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 Professor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Machine Learning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BMS College of Engineering</a:t>
            </a:r>
            <a:endParaRPr sz="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>
            <a:off x="254975" y="3939475"/>
            <a:ext cx="3873900" cy="91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Presented By,</a:t>
            </a:r>
            <a:endParaRPr sz="11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Student Name &amp; USN :</a:t>
            </a:r>
          </a:p>
          <a:p>
            <a:r>
              <a:rPr lang="en-GB" sz="11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Student Name &amp; USN 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Semester &amp; Section: </a:t>
            </a:r>
            <a:r>
              <a:rPr lang="en-GB" sz="1100" b="1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7B</a:t>
            </a:r>
            <a:endParaRPr sz="11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Date:</a:t>
            </a:r>
            <a:endParaRPr sz="11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29"/>
          <p:cNvSpPr txBox="1"/>
          <p:nvPr/>
        </p:nvSpPr>
        <p:spPr>
          <a:xfrm>
            <a:off x="5549" y="2992699"/>
            <a:ext cx="91377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 of Movie Reviews: Lexicon, Classical ML and Transformer Embeddings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Assessment Tool (AAT)</a:t>
            </a:r>
            <a:endParaRPr sz="1500" b="1" dirty="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879DDE-7264-45D2-B449-C0C3EC4DB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91" y="615950"/>
            <a:ext cx="4320413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Introduction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Selected NLP Topic Overview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Real-Time Application / API Identified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NLP Model / Architecture Study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Dataset and Preprocessing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Implementation Methodology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Results and Evaluation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Discussion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Conclusion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References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Rounded Rectangle 314"/>
          <p:cNvSpPr/>
          <p:nvPr/>
        </p:nvSpPr>
        <p:spPr>
          <a:xfrm>
            <a:off x="411480" y="731520"/>
            <a:ext cx="3931920" cy="406908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548640" y="82296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A68"/>
                </a:solidFill>
                <a:latin typeface="Times New Roman"/>
              </a:rPr>
              <a:t>Why sentiment analysis?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548640" y="1234440"/>
            <a:ext cx="365760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Companies, studios and platforms track millions of opinions in reviews and social media.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Short opinion sentences are hard: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negation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('not good'),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contrast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('stunning, but dull'),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sarcasm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.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NLP offers three generations of solutions: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lexicons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,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statistical ML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and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Transformer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embeddings.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Which works best, and why? We measure them side by side.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4572000" y="77724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00000"/>
                </a:solidFill>
                <a:latin typeface="Times New Roman"/>
              </a:rPr>
              <a:t>Objectives</a:t>
            </a:r>
          </a:p>
        </p:txBody>
      </p:sp>
      <p:sp>
        <p:nvSpPr>
          <p:cNvPr id="319" name="Oval 318"/>
          <p:cNvSpPr/>
          <p:nvPr/>
        </p:nvSpPr>
        <p:spPr>
          <a:xfrm>
            <a:off x="4572000" y="1188720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4572000" y="1225296"/>
            <a:ext cx="384048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5047488" y="1170432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Identify the task, a real-time application and APIs</a:t>
            </a:r>
          </a:p>
        </p:txBody>
      </p:sp>
      <p:sp>
        <p:nvSpPr>
          <p:cNvPr id="322" name="Oval 321"/>
          <p:cNvSpPr/>
          <p:nvPr/>
        </p:nvSpPr>
        <p:spPr>
          <a:xfrm>
            <a:off x="4572000" y="1792224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4572000" y="1828800"/>
            <a:ext cx="384048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5047488" y="1773936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Measure the effect of Unit 1 preprocessing</a:t>
            </a:r>
          </a:p>
        </p:txBody>
      </p:sp>
      <p:sp>
        <p:nvSpPr>
          <p:cNvPr id="325" name="Oval 324"/>
          <p:cNvSpPr/>
          <p:nvPr/>
        </p:nvSpPr>
        <p:spPr>
          <a:xfrm>
            <a:off x="4572000" y="2395728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4572000" y="2432304"/>
            <a:ext cx="384048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5047488" y="237744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Compare 7 approaches: lexicon, NB, LR, SVM, word vectors, RoBERTa, ensemble</a:t>
            </a:r>
          </a:p>
        </p:txBody>
      </p:sp>
      <p:sp>
        <p:nvSpPr>
          <p:cNvPr id="328" name="Oval 327"/>
          <p:cNvSpPr/>
          <p:nvPr/>
        </p:nvSpPr>
        <p:spPr>
          <a:xfrm>
            <a:off x="4572000" y="2999232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4572000" y="3035808"/>
            <a:ext cx="384048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5047488" y="2980944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Evaluate with accuracy, P, R, F1, ROC-AUC + significance test</a:t>
            </a:r>
          </a:p>
        </p:txBody>
      </p:sp>
      <p:sp>
        <p:nvSpPr>
          <p:cNvPr id="331" name="Oval 330"/>
          <p:cNvSpPr/>
          <p:nvPr/>
        </p:nvSpPr>
        <p:spPr>
          <a:xfrm>
            <a:off x="4572000" y="360273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4572000" y="3639312"/>
            <a:ext cx="384048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5047488" y="3584448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Analyse negation, contrast, sarcasm and data efficiency</a:t>
            </a:r>
          </a:p>
        </p:txBody>
      </p:sp>
      <p:sp>
        <p:nvSpPr>
          <p:cNvPr id="334" name="Oval 333"/>
          <p:cNvSpPr/>
          <p:nvPr/>
        </p:nvSpPr>
        <p:spPr>
          <a:xfrm>
            <a:off x="4572000" y="4206240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4572000" y="4242816"/>
            <a:ext cx="384048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5047488" y="4187952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Deliver a working, explainable sentiment analyser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NLP Topic Overview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Rounded Rectangle 314"/>
          <p:cNvSpPr/>
          <p:nvPr/>
        </p:nvSpPr>
        <p:spPr>
          <a:xfrm>
            <a:off x="411480" y="73152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Task: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binary text classification — given a review sentence x, predict y ∈ {negative, positive}.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Classifier: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learn f(x) = P(positive | x) from labelled examples; predict positive if f(x) ≥ 0.5. </a:t>
            </a:r>
            <a:r>
              <a:rPr sz="1300" b="1">
                <a:solidFill>
                  <a:srgbClr val="1A1A1A"/>
                </a:solidFill>
                <a:latin typeface="Times New Roman"/>
              </a:rPr>
              <a:t>Lexicon: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sum word valences and apply rules.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411480" y="178308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Times New Roman"/>
              </a:rPr>
              <a:t>Real-world use cases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411480" y="2148840"/>
            <a:ext cx="4023360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82880" indent="-164592">
              <a:spcAft>
                <a:spcPts val="500"/>
              </a:spcAft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Product reviews: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flag unhappy customers</a:t>
            </a:r>
          </a:p>
          <a:p>
            <a:pPr algn="l" marL="182880" indent="-164592">
              <a:spcAft>
                <a:spcPts val="500"/>
              </a:spcAft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Brand monitoring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on social media</a:t>
            </a:r>
          </a:p>
          <a:p>
            <a:pPr algn="l" marL="182880" indent="-164592">
              <a:spcAft>
                <a:spcPts val="500"/>
              </a:spcAft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Film reviews: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audience reaction</a:t>
            </a:r>
          </a:p>
          <a:p>
            <a:pPr algn="l" marL="182880" indent="-164592">
              <a:spcAft>
                <a:spcPts val="500"/>
              </a:spcAft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Support tickets: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prioritise angry customers</a:t>
            </a:r>
          </a:p>
          <a:p>
            <a:pPr algn="l" marL="182880" indent="-164592">
              <a:spcAft>
                <a:spcPts val="500"/>
              </a:spcAft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Finance: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news sentiment as a market signal</a:t>
            </a:r>
          </a:p>
        </p:txBody>
      </p:sp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4617720" y="1828800"/>
          <a:ext cx="4114800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61188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Unit</a:t>
                      </a:r>
                    </a:p>
                  </a:txBody>
                  <a:tcPr marL="54864" marR="54864" marT="18288" marB="18288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Used in this project</a:t>
                      </a:r>
                    </a:p>
                  </a:txBody>
                  <a:tcPr marL="54864" marR="54864" marT="18288" marB="18288" anchor="ctr">
                    <a:solidFill>
                      <a:srgbClr val="1F3A6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Regex, normalisation, tokenisation, stopwords, negation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Bag-of-words, TF-IDF, static and contextual embeddings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N-grams, RoBERTa Transformer, self-attention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Case study: NLP-powered opinion mining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Deployment trade-offs, responsible AI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Application / API Identified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411480" y="685800"/>
            <a:ext cx="832104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Movie-Review Sentiment Analyser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(predict.py) built on </a:t>
            </a:r>
            <a:r>
              <a:rPr sz="1300" b="1">
                <a:solidFill>
                  <a:srgbClr val="1A1A1A"/>
                </a:solidFill>
                <a:latin typeface="Times New Roman"/>
              </a:rPr>
              <a:t>NLTK VADER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(rule-based API), </a:t>
            </a:r>
            <a:r>
              <a:rPr sz="1300" b="1">
                <a:solidFill>
                  <a:srgbClr val="1A1A1A"/>
                </a:solidFill>
                <a:latin typeface="Times New Roman"/>
              </a:rPr>
              <a:t>scikit-learn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and </a:t>
            </a:r>
            <a:r>
              <a:rPr sz="1300" b="1">
                <a:solidFill>
                  <a:srgbClr val="1A1A1A"/>
                </a:solidFill>
                <a:latin typeface="Times New Roman"/>
              </a:rPr>
              <a:t>RoBERTa-base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via spaCy. Cloud equivalents: Google Cloud Natural Language, Amazon Comprehend, Azure AI Language.</a:t>
            </a:r>
          </a:p>
        </p:txBody>
      </p:sp>
      <p:sp>
        <p:nvSpPr>
          <p:cNvPr id="316" name="Rounded Rectangle 315"/>
          <p:cNvSpPr/>
          <p:nvPr/>
        </p:nvSpPr>
        <p:spPr>
          <a:xfrm>
            <a:off x="411480" y="137160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502920" y="1444752"/>
            <a:ext cx="24231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68"/>
                </a:solidFill>
                <a:latin typeface="Times New Roman"/>
              </a:rPr>
              <a:t>INPUT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502920" y="1783080"/>
            <a:ext cx="24231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One review sentence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502920" y="2606040"/>
            <a:ext cx="2423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</a:rPr>
              <a:t>"a masterpiece of quiet , heartbreaking performances ."</a:t>
            </a:r>
          </a:p>
        </p:txBody>
      </p:sp>
      <p:sp>
        <p:nvSpPr>
          <p:cNvPr id="320" name="Right Arrow 319"/>
          <p:cNvSpPr/>
          <p:nvPr/>
        </p:nvSpPr>
        <p:spPr>
          <a:xfrm>
            <a:off x="3044952" y="2286000"/>
            <a:ext cx="18288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ounded Rectangle 320"/>
          <p:cNvSpPr/>
          <p:nvPr/>
        </p:nvSpPr>
        <p:spPr>
          <a:xfrm>
            <a:off x="3246120" y="137160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3337560" y="1444752"/>
            <a:ext cx="24231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Times New Roman"/>
              </a:rPr>
              <a:t>PROCESSING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3337560" y="1783080"/>
            <a:ext cx="24231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Clean → tokenise → TF-IDF + RoBERTa → 2 × Logistic Regression → average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3337560" y="2606040"/>
            <a:ext cx="2423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</a:rPr>
              <a:t>TF-IDF LR 0.99, RoBERTa LR 1.00</a:t>
            </a:r>
          </a:p>
        </p:txBody>
      </p:sp>
      <p:sp>
        <p:nvSpPr>
          <p:cNvPr id="325" name="Right Arrow 324"/>
          <p:cNvSpPr/>
          <p:nvPr/>
        </p:nvSpPr>
        <p:spPr>
          <a:xfrm>
            <a:off x="5879592" y="2286000"/>
            <a:ext cx="18288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ounded Rectangle 325"/>
          <p:cNvSpPr/>
          <p:nvPr/>
        </p:nvSpPr>
        <p:spPr>
          <a:xfrm>
            <a:off x="6080760" y="137160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6172200" y="1444752"/>
            <a:ext cx="24231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68"/>
                </a:solidFill>
                <a:latin typeface="Times New Roman"/>
              </a:rPr>
              <a:t>OUTPUT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6172200" y="1783080"/>
            <a:ext cx="24231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Label, P(positive), key words, VADER baseline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6172200" y="2606040"/>
            <a:ext cx="2423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</a:rPr>
              <a:t>POSITIVE (0.99); masterpiece (+)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411480" y="3611880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A68"/>
                </a:solidFill>
                <a:latin typeface="Times New Roman"/>
              </a:rPr>
              <a:t>Functionality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411480" y="3931920"/>
            <a:ext cx="41148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82880" indent="-164592"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Times New Roman"/>
              </a:rPr>
              <a:t>Label + confidence + explanation</a:t>
            </a:r>
          </a:p>
          <a:p>
            <a:pPr algn="l" marL="182880" indent="-164592"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Times New Roman"/>
              </a:rPr>
              <a:t>Fast mode (TF-IDF, ~0.02 ms)</a:t>
            </a:r>
          </a:p>
          <a:p>
            <a:pPr algn="l" marL="182880" indent="-164592"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Times New Roman"/>
              </a:rPr>
              <a:t>Accurate mode (ensemble with RoBERTa)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4617720" y="3611880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Times New Roman"/>
              </a:rPr>
              <a:t>Limitations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4617720" y="3931920"/>
            <a:ext cx="41148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82880" indent="-164592"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Times New Roman"/>
              </a:rPr>
              <a:t>Trained on critic snippets only</a:t>
            </a:r>
          </a:p>
          <a:p>
            <a:pPr algn="l" marL="182880" indent="-164592"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Times New Roman"/>
              </a:rPr>
              <a:t>Binary: no neutral or mixed class</a:t>
            </a:r>
          </a:p>
          <a:p>
            <a:pPr algn="l" marL="182880" indent="-164592"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Times New Roman"/>
              </a:rPr>
              <a:t>Sarcasm not handled reliably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 Model / Architecture Study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5" name="Picture 314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5669280" cy="2667058"/>
          </a:xfrm>
          <a:prstGeom prst="rect">
            <a:avLst/>
          </a:prstGeom>
        </p:spPr>
      </p:pic>
      <p:sp>
        <p:nvSpPr>
          <p:cNvPr id="316" name="TextBox 315"/>
          <p:cNvSpPr txBox="1"/>
          <p:nvPr/>
        </p:nvSpPr>
        <p:spPr>
          <a:xfrm>
            <a:off x="6126480" y="685800"/>
            <a:ext cx="26517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Times New Roman"/>
              </a:rPr>
              <a:t>6 components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126480" y="1024128"/>
            <a:ext cx="265176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Input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sentence</a:t>
            </a:r>
          </a:p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Preprocessing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(clean, tokenise, negation)</a:t>
            </a:r>
          </a:p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Feature extractors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(TF-IDF, vectors, RoBERTa, lexicon)</a:t>
            </a:r>
          </a:p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Classifiers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(NB, LR, SVM, rule)</a:t>
            </a:r>
          </a:p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Ensemble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(average)</a:t>
            </a:r>
          </a:p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Output</a:t>
            </a:r>
            <a:r>
              <a:rPr sz="1300" b="0">
                <a:solidFill>
                  <a:srgbClr val="1A1A1A"/>
                </a:solidFill>
                <a:latin typeface="Times New Roman"/>
              </a:rPr>
              <a:t> label + explanation</a:t>
            </a:r>
          </a:p>
        </p:txBody>
      </p:sp>
      <p:sp>
        <p:nvSpPr>
          <p:cNvPr id="318" name="Rounded Rectangle 317"/>
          <p:cNvSpPr/>
          <p:nvPr/>
        </p:nvSpPr>
        <p:spPr>
          <a:xfrm>
            <a:off x="411480" y="3840480"/>
            <a:ext cx="8321040" cy="10515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548640" y="3886200"/>
            <a:ext cx="804672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RoBERTa-base: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12 Transformer layers × 12-head self-attention, softmax(QKᵀ/√d)V, 768-d token states, byte-level BPE (50,265 tokens). Sentence vector = mean of last-layer states (frozen, no fine-tuning).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Approaches and Language Models Compared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5" name="Table 314"/>
          <p:cNvGraphicFramePr>
            <a:graphicFrameLocks noGrp="1"/>
          </p:cNvGraphicFramePr>
          <p:nvPr/>
        </p:nvGraphicFramePr>
        <p:xfrm>
          <a:off x="411480" y="731520"/>
          <a:ext cx="51206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874519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Approach</a:t>
                      </a:r>
                    </a:p>
                  </a:txBody>
                  <a:tcPr marL="54864" marR="54864" marT="18288" marB="18288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Features → decision</a:t>
                      </a:r>
                    </a:p>
                  </a:txBody>
                  <a:tcPr marL="54864" marR="54864" marT="18288" marB="18288" anchor="ctr"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VADER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Valence lexicon + rules → compound ≥ 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Multinomial Naive Bayes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Word counts → Bayes' rule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Logistic Regression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TF-IDF → σ(wᵀx + 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Linear SVM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TF-IDF → max-margin hyperplane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Static word vectors + LR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Mean 300-d vectors → LR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RoBERTa + LR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Mean 768-d contextual → LR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Ensemble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Average of LR and RoBERTa-LR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6" name="Rounded Rectangle 315"/>
          <p:cNvSpPr/>
          <p:nvPr/>
        </p:nvSpPr>
        <p:spPr>
          <a:xfrm>
            <a:off x="5760720" y="731520"/>
            <a:ext cx="2971800" cy="41148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5897880" y="804672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Times New Roman"/>
              </a:rPr>
              <a:t>Key formulas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5897880" y="1170432"/>
            <a:ext cx="274320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TF-IDF: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(1 + log tf) · idf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NB: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argmax log P(c) + Σ log P(t | c)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LR: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P(+|x) = 1 / (1 + e^−(wᵀx+b))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SVM: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min ½‖w‖² + C Σ hinge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F1: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2PR / (P + R)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ROC-AUC: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area under TPR vs FPR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and Preprocessing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Rounded Rectangle 314"/>
          <p:cNvSpPr/>
          <p:nvPr/>
        </p:nvSpPr>
        <p:spPr>
          <a:xfrm>
            <a:off x="411480" y="731520"/>
            <a:ext cx="1938528" cy="960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411480" y="804672"/>
            <a:ext cx="193852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C00000"/>
                </a:solidFill>
                <a:latin typeface="Times New Roman"/>
              </a:rPr>
              <a:t>10,662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457200" y="1298448"/>
            <a:ext cx="184708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</a:rPr>
              <a:t>review sentences (Pang &amp; Lee 2005)</a:t>
            </a:r>
          </a:p>
        </p:txBody>
      </p:sp>
      <p:sp>
        <p:nvSpPr>
          <p:cNvPr id="318" name="Rounded Rectangle 317"/>
          <p:cNvSpPr/>
          <p:nvPr/>
        </p:nvSpPr>
        <p:spPr>
          <a:xfrm>
            <a:off x="2532888" y="731520"/>
            <a:ext cx="1938528" cy="960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2532888" y="804672"/>
            <a:ext cx="193852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F3A68"/>
                </a:solidFill>
                <a:latin typeface="Times New Roman"/>
              </a:rPr>
              <a:t>50 / 50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2578608" y="1298448"/>
            <a:ext cx="184708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</a:rPr>
              <a:t>positive / negative</a:t>
            </a:r>
          </a:p>
        </p:txBody>
      </p:sp>
      <p:sp>
        <p:nvSpPr>
          <p:cNvPr id="321" name="Rounded Rectangle 320"/>
          <p:cNvSpPr/>
          <p:nvPr/>
        </p:nvSpPr>
        <p:spPr>
          <a:xfrm>
            <a:off x="4654296" y="731520"/>
            <a:ext cx="1938528" cy="960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4654296" y="804672"/>
            <a:ext cx="193852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C00000"/>
                </a:solidFill>
                <a:latin typeface="Times New Roman"/>
              </a:rPr>
              <a:t>21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4700016" y="1298448"/>
            <a:ext cx="184708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</a:rPr>
              <a:t>words per sentence (avg.)</a:t>
            </a:r>
          </a:p>
        </p:txBody>
      </p:sp>
      <p:sp>
        <p:nvSpPr>
          <p:cNvPr id="324" name="Rounded Rectangle 323"/>
          <p:cNvSpPr/>
          <p:nvPr/>
        </p:nvSpPr>
        <p:spPr>
          <a:xfrm>
            <a:off x="6775703" y="731520"/>
            <a:ext cx="1938528" cy="960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6775703" y="804672"/>
            <a:ext cx="193852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F3A68"/>
                </a:solidFill>
                <a:latin typeface="Times New Roman"/>
              </a:rPr>
              <a:t>8,529 / 2,133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6821423" y="1298448"/>
            <a:ext cx="184708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</a:rPr>
              <a:t>train / test (stratified)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411480" y="1828800"/>
            <a:ext cx="3749039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Source: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Rotten Tomatoes snippets, sentence polarity v1.0</a:t>
            </a:r>
          </a:p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Cleaning: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UTF-8, HTML remnants, whitespace, lowercase</a:t>
            </a:r>
          </a:p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Tokenisation: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PTB-style tokens (n't, 's split); BPE for RoBERTa</a:t>
            </a:r>
          </a:p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Stopword removal hurts: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removes 'not', 'too', 'very'</a:t>
            </a:r>
          </a:p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Negation marking: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not a good film → not NOT_a NOT_good NOT_film</a:t>
            </a:r>
          </a:p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Times New Roman"/>
              </a:rPr>
              <a:t>Choices made by </a:t>
            </a:r>
            <a:r>
              <a:rPr sz="1200" b="1">
                <a:solidFill>
                  <a:srgbClr val="1A1A1A"/>
                </a:solidFill>
                <a:latin typeface="Times New Roman"/>
              </a:rPr>
              <a:t>5-fold CV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on train only</a:t>
            </a:r>
          </a:p>
        </p:txBody>
      </p:sp>
      <p:graphicFrame>
        <p:nvGraphicFramePr>
          <p:cNvPr id="328" name="Chart 327"/>
          <p:cNvGraphicFramePr>
            <a:graphicFrameLocks noGrp="1"/>
          </p:cNvGraphicFramePr>
          <p:nvPr/>
        </p:nvGraphicFramePr>
        <p:xfrm>
          <a:off x="4297680" y="1783080"/>
          <a:ext cx="448056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Methodology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Rounded Rectangle 314"/>
          <p:cNvSpPr/>
          <p:nvPr/>
        </p:nvSpPr>
        <p:spPr>
          <a:xfrm>
            <a:off x="411480" y="731520"/>
            <a:ext cx="2743200" cy="429768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502920" y="749808"/>
            <a:ext cx="26060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imes New Roman"/>
              </a:rPr>
              <a:t>1. Load corpus, stratified 80/20 split</a:t>
            </a:r>
          </a:p>
        </p:txBody>
      </p:sp>
      <p:sp>
        <p:nvSpPr>
          <p:cNvPr id="317" name="Rounded Rectangle 316"/>
          <p:cNvSpPr/>
          <p:nvPr/>
        </p:nvSpPr>
        <p:spPr>
          <a:xfrm>
            <a:off x="411480" y="1252728"/>
            <a:ext cx="2743200" cy="429768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502920" y="1271016"/>
            <a:ext cx="26060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imes New Roman"/>
              </a:rPr>
              <a:t>2. Preprocessing ablation (5-fold CV)</a:t>
            </a:r>
          </a:p>
        </p:txBody>
      </p:sp>
      <p:sp>
        <p:nvSpPr>
          <p:cNvPr id="319" name="Rounded Rectangle 318"/>
          <p:cNvSpPr/>
          <p:nvPr/>
        </p:nvSpPr>
        <p:spPr>
          <a:xfrm>
            <a:off x="411480" y="1773936"/>
            <a:ext cx="2743200" cy="429768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502920" y="1792224"/>
            <a:ext cx="26060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imes New Roman"/>
              </a:rPr>
              <a:t>3. VADER on test set (no training)</a:t>
            </a:r>
          </a:p>
        </p:txBody>
      </p:sp>
      <p:sp>
        <p:nvSpPr>
          <p:cNvPr id="321" name="Rounded Rectangle 320"/>
          <p:cNvSpPr/>
          <p:nvPr/>
        </p:nvSpPr>
        <p:spPr>
          <a:xfrm>
            <a:off x="411480" y="2295144"/>
            <a:ext cx="2743200" cy="429768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502920" y="2313432"/>
            <a:ext cx="26060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imes New Roman"/>
              </a:rPr>
              <a:t>4. Grid-search NB, LR, SVM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411480" y="2816352"/>
            <a:ext cx="2743200" cy="429768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502920" y="2834640"/>
            <a:ext cx="26060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imes New Roman"/>
              </a:rPr>
              <a:t>5. Extract word-vector and RoBERTa embeddings (cached)</a:t>
            </a:r>
          </a:p>
        </p:txBody>
      </p:sp>
      <p:sp>
        <p:nvSpPr>
          <p:cNvPr id="325" name="Rounded Rectangle 324"/>
          <p:cNvSpPr/>
          <p:nvPr/>
        </p:nvSpPr>
        <p:spPr>
          <a:xfrm>
            <a:off x="411480" y="3337559"/>
            <a:ext cx="2743200" cy="429768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502920" y="3355847"/>
            <a:ext cx="26060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imes New Roman"/>
              </a:rPr>
              <a:t>6. Train LR on embeddings; build ensemble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411480" y="3858768"/>
            <a:ext cx="2743200" cy="429768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502920" y="3877055"/>
            <a:ext cx="26060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imes New Roman"/>
              </a:rPr>
              <a:t>7. Metrics, learning curve, McNemar, slices</a:t>
            </a:r>
          </a:p>
        </p:txBody>
      </p:sp>
      <p:sp>
        <p:nvSpPr>
          <p:cNvPr id="329" name="Rounded Rectangle 328"/>
          <p:cNvSpPr/>
          <p:nvPr/>
        </p:nvSpPr>
        <p:spPr>
          <a:xfrm>
            <a:off x="411480" y="4379976"/>
            <a:ext cx="2743200" cy="429768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502920" y="4398264"/>
            <a:ext cx="26060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imes New Roman"/>
              </a:rPr>
              <a:t>8. Package predict.py</a:t>
            </a:r>
          </a:p>
        </p:txBody>
      </p:sp>
      <p:graphicFrame>
        <p:nvGraphicFramePr>
          <p:cNvPr id="331" name="Table 330"/>
          <p:cNvGraphicFramePr>
            <a:graphicFrameLocks noGrp="1"/>
          </p:cNvGraphicFramePr>
          <p:nvPr/>
        </p:nvGraphicFramePr>
        <p:xfrm>
          <a:off x="3383280" y="731520"/>
          <a:ext cx="5349240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79476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Item</a:t>
                      </a:r>
                    </a:p>
                  </a:txBody>
                  <a:tcPr marL="54864" marR="54864" marT="18288" marB="18288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Setting</a:t>
                      </a:r>
                    </a:p>
                  </a:txBody>
                  <a:tcPr marL="54864" marR="54864" marT="18288" marB="18288" anchor="ctr">
                    <a:solidFill>
                      <a:srgbClr val="1F3A6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Environment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Python 3.13, CPU only (2 cores, 8 GB)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Libraries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scikit-learn, NLTK (VADER), spaCy 3.8, PyTorch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Naive Bayes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alpha = 1.0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Logistic Regression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C = 4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Linear SVM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C = 0.3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RoBERTa + LR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C = 0.03 (standardised features)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Ensemble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Equal-weight average of probabilities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Protocol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Tune on train (5-fold CV); test used once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Model Comparison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5" name="Chart 314"/>
          <p:cNvGraphicFramePr>
            <a:graphicFrameLocks noGrp="1"/>
          </p:cNvGraphicFramePr>
          <p:nvPr/>
        </p:nvGraphicFramePr>
        <p:xfrm>
          <a:off x="365760" y="685800"/>
          <a:ext cx="548640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6" name="Rounded Rectangle 315"/>
          <p:cNvSpPr/>
          <p:nvPr/>
        </p:nvSpPr>
        <p:spPr>
          <a:xfrm>
            <a:off x="6035040" y="731520"/>
            <a:ext cx="1298448" cy="960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6035040" y="804672"/>
            <a:ext cx="129844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C00000"/>
                </a:solidFill>
                <a:latin typeface="Times New Roman"/>
              </a:rPr>
              <a:t>0.808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6080759" y="1298448"/>
            <a:ext cx="120700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</a:rPr>
              <a:t>Ensemble accuracy</a:t>
            </a:r>
          </a:p>
        </p:txBody>
      </p:sp>
      <p:sp>
        <p:nvSpPr>
          <p:cNvPr id="319" name="Rounded Rectangle 318"/>
          <p:cNvSpPr/>
          <p:nvPr/>
        </p:nvSpPr>
        <p:spPr>
          <a:xfrm>
            <a:off x="7434072" y="731520"/>
            <a:ext cx="1298448" cy="960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7434072" y="804672"/>
            <a:ext cx="129844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F3A68"/>
                </a:solidFill>
                <a:latin typeface="Times New Roman"/>
              </a:rPr>
              <a:t>0.883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7479792" y="1298448"/>
            <a:ext cx="120700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</a:rPr>
              <a:t>Ensemble ROC-AUC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6035040" y="1828800"/>
            <a:ext cx="269748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82880" indent="-164592">
              <a:spcAft>
                <a:spcPts val="500"/>
              </a:spcAft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Ensemble best: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+2.9 pts over best single model</a:t>
            </a:r>
          </a:p>
          <a:p>
            <a:pPr algn="l" marL="182880" indent="-164592">
              <a:spcAft>
                <a:spcPts val="500"/>
              </a:spcAft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SVM ≈ LR ≈ NB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(0.779 / 0.775 / 0.774); McNemar p = 0.22</a:t>
            </a:r>
          </a:p>
          <a:p>
            <a:pPr algn="l" marL="182880" indent="-164592">
              <a:spcAft>
                <a:spcPts val="500"/>
              </a:spcAft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VADER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0.642: 18% scored neutral</a:t>
            </a:r>
          </a:p>
          <a:p>
            <a:pPr algn="l" marL="182880" indent="-164592">
              <a:spcAft>
                <a:spcPts val="500"/>
              </a:spcAft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Frozen RoBERTa</a:t>
            </a:r>
            <a:r>
              <a:rPr sz="1200" b="0">
                <a:solidFill>
                  <a:srgbClr val="1A1A1A"/>
                </a:solidFill>
                <a:latin typeface="Times New Roman"/>
              </a:rPr>
              <a:t> 0.753 alone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Data Efficiency and Linguistic Patterns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5" name="Picture 314" descr="fig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0"/>
            <a:ext cx="4206240" cy="2490584"/>
          </a:xfrm>
          <a:prstGeom prst="rect">
            <a:avLst/>
          </a:prstGeom>
        </p:spPr>
      </p:pic>
      <p:pic>
        <p:nvPicPr>
          <p:cNvPr id="316" name="Picture 315" descr="fig_sl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731520"/>
            <a:ext cx="4206240" cy="2373999"/>
          </a:xfrm>
          <a:prstGeom prst="rect">
            <a:avLst/>
          </a:prstGeom>
        </p:spPr>
      </p:pic>
      <p:sp>
        <p:nvSpPr>
          <p:cNvPr id="317" name="Rounded Rectangle 316"/>
          <p:cNvSpPr/>
          <p:nvPr/>
        </p:nvSpPr>
        <p:spPr>
          <a:xfrm>
            <a:off x="411480" y="3246120"/>
            <a:ext cx="4069080" cy="109728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502920" y="3310128"/>
            <a:ext cx="38862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Times New Roman"/>
              </a:rPr>
              <a:t>With only 426 training sentences RoBERTa leads (0.656 vs 0.632); TF-IDF overtakes after ~4,000 sentences.</a:t>
            </a:r>
          </a:p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Times New Roman"/>
              </a:rPr>
              <a:t>Pre-training = prior knowledge; frozen features saturate.</a:t>
            </a:r>
          </a:p>
        </p:txBody>
      </p:sp>
      <p:sp>
        <p:nvSpPr>
          <p:cNvPr id="319" name="Rounded Rectangle 318"/>
          <p:cNvSpPr/>
          <p:nvPr/>
        </p:nvSpPr>
        <p:spPr>
          <a:xfrm>
            <a:off x="4663440" y="3246120"/>
            <a:ext cx="4069080" cy="109728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4754880" y="3310128"/>
            <a:ext cx="38862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Times New Roman"/>
              </a:rPr>
              <a:t>Negation: TF-IDF LR 0.693, VADER 0.586</a:t>
            </a:r>
          </a:p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Times New Roman"/>
              </a:rPr>
              <a:t>Negation marking (post-hoc) lifts this to 0.742</a:t>
            </a:r>
          </a:p>
          <a:p>
            <a:pPr algn="l" marL="182880" indent="-164592">
              <a:spcAft>
                <a:spcPts val="400"/>
              </a:spcAft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Times New Roman"/>
              </a:rPr>
              <a:t>Contrast hurts RoBERTa most (0.639)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Demonstrated Test Cases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5" name="Table 314"/>
          <p:cNvGraphicFramePr>
            <a:graphicFrameLocks noGrp="1"/>
          </p:cNvGraphicFramePr>
          <p:nvPr/>
        </p:nvGraphicFramePr>
        <p:xfrm>
          <a:off x="411480" y="713232"/>
          <a:ext cx="8321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840480"/>
                <a:gridCol w="502920"/>
                <a:gridCol w="914400"/>
                <a:gridCol w="868680"/>
                <a:gridCol w="868680"/>
                <a:gridCol w="868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Sentence</a:t>
                      </a:r>
                    </a:p>
                  </a:txBody>
                  <a:tcPr marL="54864" marR="54864" marT="18288" marB="18288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Gold</a:t>
                      </a:r>
                    </a:p>
                  </a:txBody>
                  <a:tcPr marL="54864" marR="54864" marT="18288" marB="18288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TF-IDF LR</a:t>
                      </a:r>
                    </a:p>
                  </a:txBody>
                  <a:tcPr marL="54864" marR="54864" marT="18288" marB="18288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RoBERTa</a:t>
                      </a:r>
                    </a:p>
                  </a:txBody>
                  <a:tcPr marL="54864" marR="54864" marT="18288" marB="18288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LR+neg</a:t>
                      </a:r>
                    </a:p>
                  </a:txBody>
                  <a:tcPr marL="54864" marR="54864" marT="18288" marB="18288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VADER</a:t>
                      </a:r>
                    </a:p>
                  </a:txBody>
                  <a:tcPr marL="54864" marR="54864" marT="18288" marB="18288" anchor="ctr"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TC1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a masterpiece of quiet , heartbreaking performances 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Pos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+0.27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TC2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the plot is predictable and the dialogue is painfully flat .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Neg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0.04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0.17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0.01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-0.53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TC3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not bad at all -- i actually enjoyed it 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Pos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✗ 0.14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✗ 0.20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✗ 0.11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+0.73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TC4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it is not a good film .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Neg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✗ 0.89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0.38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0.45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-0.34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TC5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the visuals are stunning , but the story never comes alive 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Neg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✗ 0.54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-0.24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TC6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i wanted to like this movie , but i could n't .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Neg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0.09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0.19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0.08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✗ +0.19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TC7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oh great , another two hours of my life i will never get back 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Neg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✗ +0.62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TC8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the cast is charming and the script is sharp and funny .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Pos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0.97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0.67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0.99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✓ +0.77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and Error Analysis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411480" y="713232"/>
            <a:ext cx="40233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68"/>
                </a:solidFill>
                <a:latin typeface="Times New Roman"/>
              </a:rPr>
              <a:t>Key observations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411480" y="1051560"/>
            <a:ext cx="402336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Simple linear models on TF-IDF remain hard to beat with enough data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Transformers help most with little data and in ensembles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Stopword removal hurts sentiment (negations are stopwords)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Averaged static vectors blur sentiment words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A generic lexicon (VADER) misses film vocabulary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4617720" y="713232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Times New Roman"/>
              </a:rPr>
              <a:t>Error types</a:t>
            </a:r>
          </a:p>
        </p:txBody>
      </p:sp>
      <p:sp>
        <p:nvSpPr>
          <p:cNvPr id="318" name="Rounded Rectangle 317"/>
          <p:cNvSpPr/>
          <p:nvPr/>
        </p:nvSpPr>
        <p:spPr>
          <a:xfrm>
            <a:off x="4617720" y="1097280"/>
            <a:ext cx="4114800" cy="82296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4709160" y="1143000"/>
            <a:ext cx="3931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Contrast / concession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4709160" y="146304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</a:rPr>
              <a:t>'more depressing than liberating, but it's never boring' → wrong</a:t>
            </a:r>
          </a:p>
        </p:txBody>
      </p:sp>
      <p:sp>
        <p:nvSpPr>
          <p:cNvPr id="321" name="Rounded Rectangle 320"/>
          <p:cNvSpPr/>
          <p:nvPr/>
        </p:nvSpPr>
        <p:spPr>
          <a:xfrm>
            <a:off x="4617720" y="2039112"/>
            <a:ext cx="4114800" cy="8229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4709160" y="2084831"/>
            <a:ext cx="3931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Double negation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4709160" y="2404872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</a:rPr>
              <a:t>'isn't nearly as terrible as it could have been' → wrong</a:t>
            </a:r>
          </a:p>
        </p:txBody>
      </p:sp>
      <p:sp>
        <p:nvSpPr>
          <p:cNvPr id="324" name="Rounded Rectangle 323"/>
          <p:cNvSpPr/>
          <p:nvPr/>
        </p:nvSpPr>
        <p:spPr>
          <a:xfrm>
            <a:off x="4617720" y="2980944"/>
            <a:ext cx="4114800" cy="82296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4709160" y="3026663"/>
            <a:ext cx="3931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Faint praise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4709160" y="3346703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</a:rPr>
              <a:t>'a solid film … but more conscientious than stirring' → wrong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4617720" y="3922776"/>
            <a:ext cx="4114800" cy="8229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4709160" y="3968496"/>
            <a:ext cx="3931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Times New Roman"/>
              </a:rPr>
              <a:t>Sarcasm / casual style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4709160" y="4288536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</a:rPr>
              <a:t>'oh great, another two hours…' fools VADER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Work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Rounded Rectangle 314"/>
          <p:cNvSpPr/>
          <p:nvPr/>
        </p:nvSpPr>
        <p:spPr>
          <a:xfrm>
            <a:off x="411480" y="731520"/>
            <a:ext cx="4023360" cy="2514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548640" y="804672"/>
            <a:ext cx="374903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68"/>
                </a:solidFill>
                <a:latin typeface="Times New Roman"/>
              </a:rPr>
              <a:t>Summary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548640" y="1170432"/>
            <a:ext cx="3749039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7 approaches compared on 10,662 sentences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Best: ensemble 80.8% accuracy, AUC 0.883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Best single: Linear SVM 77.9%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VADER without training: 64.2%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Working, explainable analyser delivered</a:t>
            </a:r>
          </a:p>
        </p:txBody>
      </p:sp>
      <p:sp>
        <p:nvSpPr>
          <p:cNvPr id="318" name="Rounded Rectangle 317"/>
          <p:cNvSpPr/>
          <p:nvPr/>
        </p:nvSpPr>
        <p:spPr>
          <a:xfrm>
            <a:off x="4617720" y="731520"/>
            <a:ext cx="4114800" cy="251460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4754880" y="804672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Times New Roman"/>
              </a:rPr>
              <a:t>Future work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4754880" y="1170432"/>
            <a:ext cx="384048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Fine-tune RoBERTa / DistilBERT (or LoRA) on GPU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Negation scope + contrast-aware weighting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Zero/few-shot LLM prompting comparison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Neutral class and aspect-based sentiment</a:t>
            </a:r>
          </a:p>
          <a:p>
            <a:pPr algn="l" marL="182880" indent="-16459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Indian-language and code-mixed reviews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411480" y="3566160"/>
            <a:ext cx="8321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3A68"/>
                </a:solidFill>
                <a:latin typeface="Times New Roman"/>
              </a:rPr>
              <a:t>Classical features + pre-trained Transformer knowledge together give the most reliable sentiment classifier.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411480" y="731520"/>
            <a:ext cx="8321040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[1] Jurafsky and Martin, Speech and Language Processing, 3rd ed., 2024 (Ch. 4)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[2] Pang and Lee, Seeing Stars, ACL 2005 (sentence polarity dataset)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[3] Pang, Lee and Vaithyanathan, Thumbs up? Sentiment Classification, EMNLP 2002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[4] Hutto and Gilbert, VADER, ICWSM 2014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[5] Das and Chen, negation marking, APFA 2001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[6] Wang and Manning, Baselines and Bigrams, ACL 2012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[7] Socher et al., Sentiment Treebank, EMNLP 2013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[8] Liu et al., RoBERTa, arXiv:1907.11692, 2019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[9] Vaswani et al., Attention Is All You Need, NeurIPS 2017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[10] McNemar, Psychometrika, 1947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[11] Tunstall et al., NLP with Transformers, O'Reilly, 2022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441" name="Google Shape;441;p48"/>
          <p:cNvSpPr txBox="1"/>
          <p:nvPr/>
        </p:nvSpPr>
        <p:spPr>
          <a:xfrm>
            <a:off x="12692" y="1824521"/>
            <a:ext cx="91377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Thank you ! </a:t>
            </a:r>
            <a:endParaRPr sz="4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123</Words>
  <Application>Microsoft Office PowerPoint</Application>
  <PresentationFormat>On-screen Show (16:9)</PresentationFormat>
  <Paragraphs>30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Times New Roman</vt:lpstr>
      <vt:lpstr>Calibri</vt:lpstr>
      <vt:lpstr>Corsiva</vt:lpstr>
      <vt:lpstr>Times</vt:lpstr>
      <vt:lpstr>Arial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8</cp:revision>
  <dcterms:modified xsi:type="dcterms:W3CDTF">2026-09-29T17:13:03Z</dcterms:modified>
</cp:coreProperties>
</file>